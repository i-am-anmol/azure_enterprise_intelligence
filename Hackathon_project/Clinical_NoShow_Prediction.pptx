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0" y="10972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Clinical No-Show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B8A9"/>
                </a:solidFill>
              </a:defRPr>
            </a:pPr>
            <a:r>
              <a:t>AI-Powered Patient Risk Stratification &amp; Automated Intervention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Infinity Nexus Team  | 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212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Powered by: Power BI  •  XGBoost  •  Streamlit  •  Power Automate  •  Groq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8A9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📉  Patient no-shows cost U.S. healthcare $150B+ annually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🏥  Average clinic loses $200-$500 per missed appointment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📅  No-shows disrupt scheduling, waste staff time, delay care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❌  Traditional reminder systems are one-size-fits-all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⚠️  High-risk patients get the same reminder as low-risk 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828800"/>
            <a:ext cx="3657600" cy="2286000"/>
          </a:xfrm>
          <a:prstGeom prst="roundRect">
            <a:avLst/>
          </a:prstGeom>
          <a:solidFill>
            <a:srgbClr val="1E3050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Industry Average</a:t>
            </a:r>
            <a:br/>
            <a:r>
              <a:t>No-Show Rate</a:t>
            </a:r>
            <a:br/>
            <a:br/>
            <a:r>
              <a:t>23-34%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8A9"/>
                </a:solidFill>
              </a:defRPr>
            </a:pPr>
            <a:r>
              <a:t>What if we could predict WHO will no-show and intervene BEFORE it happens?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8A9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End-to-end ML pipeline that predicts no-show risk and triggers</a:t>
            </a:r>
            <a:br/>
            <a:r>
              <a:t>targeted interventions — all from a single operational dashboard.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43200"/>
            <a:ext cx="3474720" cy="2743200"/>
          </a:xfrm>
          <a:prstGeom prst="roundRect">
            <a:avLst/>
          </a:prstGeom>
          <a:solidFill>
            <a:srgbClr val="1E3050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PREDICT</a:t>
            </a:r>
            <a:br/>
            <a:r>
              <a:t>━━━━━━</a:t>
            </a:r>
            <a:br/>
            <a:r>
              <a:t>XGBoost ML model</a:t>
            </a:r>
            <a:br/>
            <a:r>
              <a:t>trained on 4,804</a:t>
            </a:r>
            <a:br/>
            <a:r>
              <a:t>historical visits</a:t>
            </a:r>
            <a:br/>
            <a:br/>
            <a:r>
              <a:t>AUC: 60.4%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743200"/>
            <a:ext cx="3474720" cy="2743200"/>
          </a:xfrm>
          <a:prstGeom prst="roundRect">
            <a:avLst/>
          </a:prstGeom>
          <a:solidFill>
            <a:srgbClr val="1E3050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STRATIFY</a:t>
            </a:r>
            <a:br/>
            <a:r>
              <a:t>━━━━━━</a:t>
            </a:r>
            <a:br/>
            <a:r>
              <a:t>3 Risk Tiers:</a:t>
            </a:r>
            <a:br/>
            <a:r>
              <a:t>🟢 Low (&lt;30%)</a:t>
            </a:r>
            <a:br/>
            <a:r>
              <a:t>🟡 Medium (30-60%)</a:t>
            </a:r>
            <a:br/>
            <a:r>
              <a:t>🔴 High (&gt;60%)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2743200"/>
            <a:ext cx="3474720" cy="2743200"/>
          </a:xfrm>
          <a:prstGeom prst="roundRect">
            <a:avLst/>
          </a:prstGeom>
          <a:solidFill>
            <a:srgbClr val="1E3050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INTERVENE</a:t>
            </a:r>
            <a:br/>
            <a:r>
              <a:t>━━━━━━</a:t>
            </a:r>
            <a:br/>
            <a:r>
              <a:t>Power Automate</a:t>
            </a:r>
            <a:br/>
            <a:r>
              <a:t>email reminders</a:t>
            </a:r>
            <a:br/>
            <a:r>
              <a:t>to high-risk patients</a:t>
            </a:r>
            <a:br/>
            <a:r>
              <a:t>with one click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8A9"/>
                </a:solidFill>
              </a:defRPr>
            </a:pPr>
            <a:r>
              <a:t>Solution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286000" cy="1097280"/>
          </a:xfrm>
          <a:prstGeom prst="roundRect">
            <a:avLst/>
          </a:prstGeom>
          <a:solidFill>
            <a:srgbClr val="243352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📊 Power BI</a:t>
            </a:r>
            <a:br/>
            <a:r>
              <a:t>Semantic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645920"/>
            <a:ext cx="2286000" cy="1097280"/>
          </a:xfrm>
          <a:prstGeom prst="roundRect">
            <a:avLst/>
          </a:prstGeom>
          <a:solidFill>
            <a:srgbClr val="243352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🔐 Azure AD</a:t>
            </a:r>
            <a:br/>
            <a:r>
              <a:t>Service Principal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474720"/>
            <a:ext cx="2286000" cy="1097280"/>
          </a:xfrm>
          <a:prstGeom prst="roundRect">
            <a:avLst/>
          </a:prstGeom>
          <a:solidFill>
            <a:srgbClr val="243352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📝 DAX Queries</a:t>
            </a:r>
            <a:br/>
            <a:r>
              <a:t>(REST API)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3474720"/>
            <a:ext cx="2286000" cy="1097280"/>
          </a:xfrm>
          <a:prstGeom prst="roundRect">
            <a:avLst/>
          </a:prstGeom>
          <a:solidFill>
            <a:srgbClr val="00B8A9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🤖 XGBoost</a:t>
            </a:r>
            <a:br/>
            <a:r>
              <a:t>ML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3474720"/>
            <a:ext cx="2286000" cy="1097280"/>
          </a:xfrm>
          <a:prstGeom prst="roundRect">
            <a:avLst/>
          </a:prstGeom>
          <a:solidFill>
            <a:srgbClr val="243352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📊 Risk</a:t>
            </a:r>
            <a:br/>
            <a:r>
              <a:t>Stratification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303520"/>
            <a:ext cx="2286000" cy="1097280"/>
          </a:xfrm>
          <a:prstGeom prst="roundRect">
            <a:avLst/>
          </a:prstGeom>
          <a:solidFill>
            <a:srgbClr val="243352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📱 Streamlit</a:t>
            </a:r>
            <a:br/>
            <a: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5303520"/>
            <a:ext cx="2286000" cy="1097280"/>
          </a:xfrm>
          <a:prstGeom prst="roundRect">
            <a:avLst/>
          </a:prstGeom>
          <a:solidFill>
            <a:srgbClr val="243352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🤖 AI Chatbot</a:t>
            </a:r>
            <a:br/>
            <a:r>
              <a:t>(Groq/Llama 3.1)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5303520"/>
            <a:ext cx="2286000" cy="1097280"/>
          </a:xfrm>
          <a:prstGeom prst="roundRect">
            <a:avLst/>
          </a:prstGeom>
          <a:solidFill>
            <a:srgbClr val="243352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📧 Power Automate</a:t>
            </a:r>
            <a:br/>
            <a:r>
              <a:t>Email Reminders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82880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B8A9"/>
                </a:solidFill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346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B8A9"/>
                </a:solidFill>
              </a:defRPr>
            </a:pPr>
            <a: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65760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B8A9"/>
                </a:solidFill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65760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B8A9"/>
                </a:solidFill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6634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B8A9"/>
                </a:solidFill>
              </a:defRPr>
            </a:pPr>
            <a: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6634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B8A9"/>
                </a:solidFill>
              </a:defRPr>
            </a:pPr>
            <a: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6634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B8A9"/>
                </a:solidFill>
              </a:defRPr>
            </a:pPr>
            <a: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Data Flow: Power BI → DAX API → Feature Engineering → XGBoost → Risk Scores → Dashboard + Automation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8A9"/>
                </a:solidFill>
              </a:defRPr>
            </a:pPr>
            <a:r>
              <a:t>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📊  Source: Power BI Semantic Model (workspace: Clinical No-Show Prediction)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🔐  Auth: Azure AD Service Principal (client_credentials OAuth2 flow)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📝  Queries: DAX via Power BI REST API (executeQueries endpoint)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📋  Tables: staging_appointment (14 cols) + staging_patient (16 cols)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🔗  Join: Left merge on patient_id → 4,804 enriched records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⚙️  Feature Engineering: lead_days, day_of_week, hour, past_noshow_ratio, etc.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⏱️  Caching: st.cache_data with 1-hour TTL for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8A9"/>
                </a:solidFill>
              </a:defRPr>
            </a:pPr>
            <a:r>
              <a:t>ML Model — XGBoost Classifier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Algorithm: XGBClassifier (Extreme Gradient Boosting)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Training Data: 4,804 historical in-person appointments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Train/Test Split: 80/20 with stratified sampling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Evaluation: ROC-AUC Score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Class Balancing: scale_pos_weight (auto-computed)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280160"/>
            <a:ext cx="4754880" cy="2926080"/>
          </a:xfrm>
          <a:prstGeom prst="roundRect">
            <a:avLst/>
          </a:prstGeom>
          <a:solidFill>
            <a:srgbClr val="1E3050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Hyperparameters</a:t>
            </a:r>
            <a:br/>
            <a:r>
              <a:t>━━━━━━━━━━━━</a:t>
            </a:r>
            <a:br/>
            <a:r>
              <a:t>n_estimators: 500</a:t>
            </a:r>
            <a:br/>
            <a:r>
              <a:t>max_depth: 6</a:t>
            </a:r>
            <a:br/>
            <a:r>
              <a:t>learning_rate: 0.05</a:t>
            </a:r>
            <a:br/>
            <a:r>
              <a:t>subsample: 0.85</a:t>
            </a:r>
            <a:br/>
            <a:r>
              <a:t>colsample_bytree: 0.7</a:t>
            </a:r>
            <a:br/>
            <a:r>
              <a:t>min_child_weight: 3</a:t>
            </a:r>
            <a:br/>
            <a:r>
              <a:t>reg_alpha: 0.1 | reg_lambda: 1.5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Risk Stratification Thresholds: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029200"/>
            <a:ext cx="3200400" cy="109728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🟢 Low Risk</a:t>
            </a:r>
            <a:br/>
            <a:r>
              <a:t>&lt; 30% probability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5029200"/>
            <a:ext cx="3200400" cy="1097280"/>
          </a:xfrm>
          <a:prstGeom prst="roundRect">
            <a:avLst/>
          </a:prstGeom>
          <a:solidFill>
            <a:srgbClr val="E65100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🟡 Medium Risk</a:t>
            </a:r>
            <a:br/>
            <a:r>
              <a:t>30% – 60%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5029200"/>
            <a:ext cx="3200400" cy="1097280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🔴 High Risk</a:t>
            </a:r>
            <a:br/>
            <a:r>
              <a:t>&gt; 60% probability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8A9"/>
                </a:solidFill>
              </a:defRPr>
            </a:pPr>
            <a:r>
              <a:t>Top Predictive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past_noshow_ratio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Patient's historical no-show percentage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8A9"/>
                </a:solidFill>
              </a:defRPr>
            </a:pPr>
            <a:r>
              <a:t>★★★★★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risk_combo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past_noshow × lead_days interaction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8A9"/>
                </a:solidFill>
              </a:defRPr>
            </a:pPr>
            <a:r>
              <a:t>★★★★☆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lead_days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Days between booking and appointment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8A9"/>
                </a:solidFill>
              </a:defRPr>
            </a:pPr>
            <a:r>
              <a:t>★★★★☆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distance_to_clinic_miles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788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How far patient lives from clinic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788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8A9"/>
                </a:solidFill>
              </a:defRPr>
            </a:pPr>
            <a:r>
              <a:t>★★★★☆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patient_age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Patient age at appointment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8A9"/>
                </a:solidFill>
              </a:defRPr>
            </a:pPr>
            <a:r>
              <a:t>★★★☆☆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794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total_past_appts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794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Patient engagement 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8A9"/>
                </a:solidFill>
              </a:defRPr>
            </a:pPr>
            <a:r>
              <a:t>★★★☆☆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hour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Time of day (early = higher risk)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8A9"/>
                </a:solidFill>
              </a:defRPr>
            </a:pPr>
            <a:r>
              <a:t>★★☆☆☆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day_of_week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800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Monday/Friday higher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800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8A9"/>
                </a:solidFill>
              </a:defRPr>
            </a:pPr>
            <a:r>
              <a:t>★★☆☆☆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no_sms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303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Not enrolled in SMS reminders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530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8A9"/>
                </a:solidFill>
              </a:defRPr>
            </a:pPr>
            <a:r>
              <a:t>★★☆☆☆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806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insurance_encoded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806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Self-pay = higher 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5806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8A9"/>
                </a:solidFill>
              </a:defRPr>
            </a:pPr>
            <a:r>
              <a:t>★☆☆☆☆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8A9"/>
                </a:solidFill>
              </a:defRPr>
            </a:pPr>
            <a:r>
              <a:t>Streamlit Dashboard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📊  Real-time KPI Cards — High/Medium/Low risk counts + revenue at risk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🎯  Risk Stratification — Color-coded cards with recommended actions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📅  Weekly &amp; Daily Views — Appointment volume breakdown by risk tier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📋  Scored Table — All upcoming appointments with sortable risk scores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💰  Cost Impact Analysis — Revenue loss estimation &amp; recoverable savings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📈  Historical Trends — Monthly no-show rate trend line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🔍  Risk Factor Breakdown — Insurance, day-of-week, category analysis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🎛️  Sidebar Filters — Date range, risk tier, appointment category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🔄  Live Refresh — One-click data refresh from Power BI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8A9"/>
                </a:solidFill>
              </a:defRPr>
            </a:pPr>
            <a:r>
              <a:t>AI-Powered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🤖  Model: Llama 3.1 8B Instant (via Groq API — free tier)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💬  Location: Sidebar expander for quick access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📊  Context: Fed with real-time data summary + top 50 patient details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🔍  Capabilities: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      • "How many patients are at high risk this week?"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      • "Name the patients with highest no-show probability"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      • "What are the top reasons for no-shows?"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      • "Which insurance type has most no-shows?"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⚡  Response time: &lt; 2 seconds (Groq inference)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🗑️  Clear chat history with one click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1645920"/>
            <a:ext cx="3474720" cy="4114800"/>
          </a:xfrm>
          <a:prstGeom prst="roundRect">
            <a:avLst/>
          </a:prstGeom>
          <a:solidFill>
            <a:srgbClr val="1E3050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🤖 No-Show</a:t>
            </a:r>
            <a:br/>
            <a:r>
              <a:t>Intelligence</a:t>
            </a:r>
            <a:br/>
            <a:r>
              <a:t>Assistant</a:t>
            </a:r>
            <a:br/>
            <a:r>
              <a:t>━━━━━━━━</a:t>
            </a:r>
            <a:br/>
            <a:br/>
            <a:r>
              <a:t>User: How many</a:t>
            </a:r>
            <a:br/>
            <a:r>
              <a:t>are high risk?</a:t>
            </a:r>
            <a:br/>
            <a:br/>
            <a:r>
              <a:t>Bot: There are 5</a:t>
            </a:r>
            <a:br/>
            <a:r>
              <a:t>high-risk patients</a:t>
            </a:r>
            <a:br/>
            <a:r>
              <a:t>this week...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8A9"/>
                </a:solidFill>
              </a:defRPr>
            </a:pPr>
            <a:r>
              <a:t>Power Automate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One-click email reminders to high-risk patients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286000"/>
            <a:ext cx="2194560" cy="1371600"/>
          </a:xfrm>
          <a:prstGeom prst="roundRect">
            <a:avLst/>
          </a:prstGeom>
          <a:solidFill>
            <a:srgbClr val="00B8A9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📧 Click</a:t>
            </a:r>
            <a:br/>
            <a:r>
              <a:t>"Send Reminders"</a:t>
            </a:r>
            <a:br/>
            <a:r>
              <a:t>Button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265176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8A9"/>
                </a:solidFill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2286000"/>
            <a:ext cx="2194560" cy="1371600"/>
          </a:xfrm>
          <a:prstGeom prst="roundRect">
            <a:avLst/>
          </a:prstGeom>
          <a:solidFill>
            <a:srgbClr val="1E3050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📤 POST JSON</a:t>
            </a:r>
            <a:br/>
            <a:r>
              <a:t>to Power Automate</a:t>
            </a:r>
            <a:br/>
            <a:r>
              <a:t>Webhook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265176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8A9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2286000"/>
            <a:ext cx="2194560" cy="1371600"/>
          </a:xfrm>
          <a:prstGeom prst="roundRect">
            <a:avLst/>
          </a:prstGeom>
          <a:solidFill>
            <a:srgbClr val="1E3050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⚙️ Parse JSON</a:t>
            </a:r>
            <a:br/>
            <a:r>
              <a:t>&amp; Loop Each</a:t>
            </a:r>
            <a:br/>
            <a:r>
              <a:t>Patient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65176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8A9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2286000"/>
            <a:ext cx="2194560" cy="1371600"/>
          </a:xfrm>
          <a:prstGeom prst="roundRect">
            <a:avLst/>
          </a:prstGeom>
          <a:solidFill>
            <a:srgbClr val="1E3050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📨 Send Email</a:t>
            </a:r>
            <a:br/>
            <a:r>
              <a:t>(Outlook)</a:t>
            </a:r>
            <a:br/>
            <a:r>
              <a:t>to Patient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Email includes: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  • Patient name &amp; appointment date/time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  • Clinic name &amp; appointment category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  • Risk score percentage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  • Confirm/Reschedule call-to-action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Payload: JSON with patient array + metadata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Auth: Signed webhook URL (no OAuth needed)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8A9"/>
                </a:solidFill>
              </a:defRPr>
            </a:pPr>
            <a:r>
              <a:t>Cost Impact &amp; ROI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029200" cy="4114800"/>
          </a:xfrm>
          <a:prstGeom prst="roundRect">
            <a:avLst/>
          </a:prstGeom>
          <a:solidFill>
            <a:srgbClr val="1E3050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WITHOUT Intervention</a:t>
            </a:r>
            <a:br/>
            <a:r>
              <a:t>━━━━━━━━━━━━━━━━</a:t>
            </a:r>
            <a:br/>
            <a:br/>
            <a:r>
              <a:t>💰 Avg Revenue/Appt: $250</a:t>
            </a:r>
            <a:br/>
            <a:br/>
            <a:r>
              <a:t>📉 Predicted No-Shows: ~43</a:t>
            </a:r>
            <a:br/>
            <a:br/>
            <a:r>
              <a:t>❌ Estimated Loss: $10,710</a:t>
            </a:r>
            <a:br/>
            <a:br/>
            <a:r>
              <a:t>⚠️ Based on 587 upcoming</a:t>
            </a:r>
            <a:br/>
            <a:r>
              <a:t>     appointments in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371600"/>
            <a:ext cx="5029200" cy="4114800"/>
          </a:xfrm>
          <a:prstGeom prst="roundRect">
            <a:avLst/>
          </a:prstGeom>
          <a:solidFill>
            <a:srgbClr val="1E3050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WITH Risk-Based Intervention</a:t>
            </a:r>
            <a:br/>
            <a:r>
              <a:t>━━━━━━━━━━━━━━━━━━━━</a:t>
            </a:r>
            <a:br/>
            <a:br/>
            <a:r>
              <a:t>🎯 High-Risk Callbacks: 40% recovery</a:t>
            </a:r>
            <a:br/>
            <a:br/>
            <a:r>
              <a:t>📱 Medium-Risk SMS: 25% recovery</a:t>
            </a:r>
            <a:br/>
            <a:br/>
            <a:r>
              <a:t>✅ Recoverable Revenue: ~$4,280+</a:t>
            </a:r>
            <a:br/>
            <a:br/>
            <a:r>
              <a:t>📈 ROI: Positive from Day 1</a:t>
            </a:r>
            <a:br/>
            <a:r>
              <a:t>     (zero infrastructure cost)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8A9"/>
                </a:solidFill>
              </a:defRPr>
            </a:pPr>
            <a:r>
              <a:t>Zero marginal cost — all tools are free tier or existing Microsoft licenses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8A9"/>
                </a:solidFill>
              </a:defRPr>
            </a:pPr>
            <a:r>
              <a:t>Tech Stack &amp;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8A9"/>
                </a:solidFill>
              </a:defRPr>
            </a:pPr>
            <a:r>
              <a:t>Data Layer: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Power BI Semantic Model, DAX,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8A9"/>
                </a:solidFill>
              </a:defRPr>
            </a:pPr>
            <a:r>
              <a:t>Auth: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874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Azure AD Service Principal (OAuth2)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8A9"/>
                </a:solidFill>
              </a:defRPr>
            </a:pPr>
            <a:r>
              <a:t>ML Engine: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377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XGBoost (scikit-learn compatible)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8A9"/>
                </a:solidFill>
              </a:defRPr>
            </a:pPr>
            <a:r>
              <a:t>Frontend: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880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Streamlit (Python, deployed on Streamlit Cloud)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8A9"/>
                </a:solidFill>
              </a:defRPr>
            </a:pPr>
            <a:r>
              <a:t>AI/NLP: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383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Groq API — Llama 3.1 8B Instant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86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8A9"/>
                </a:solidFill>
              </a:defRPr>
            </a:pPr>
            <a:r>
              <a:t>Automation: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886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Power Automate (HTTP webhook trigger)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8A9"/>
                </a:solidFill>
              </a:defRPr>
            </a:pPr>
            <a:r>
              <a:t>Hosting: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389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Streamlit Cloud (free tier)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92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8A9"/>
                </a:solidFill>
              </a:defRPr>
            </a:pPr>
            <a:r>
              <a:t>Version Control: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892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GitHub (main branch, CI/CD auto-deploy)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03520"/>
            <a:ext cx="10972800" cy="1097280"/>
          </a:xfrm>
          <a:prstGeom prst="roundRect">
            <a:avLst/>
          </a:prstGeom>
          <a:solidFill>
            <a:srgbClr val="1E3050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B8A9"/>
                </a:solidFill>
              </a:defRPr>
            </a:pPr>
            <a:r>
              <a:t>🌐 Live Demo: azureenterpriseintelligence.streamlit.app    |    📂 GitHub: github.com/i-am-anmol/azure_enterprise_intelligence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